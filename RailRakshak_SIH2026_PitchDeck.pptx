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645920" cy="1645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51760" y="105156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SMART INDIA HACKATHON (SIH 2026) · SWR CORRIDOR (138.25 KM)</a:t>
            </a:r>
          </a:p>
          <a:p>
            <a:pPr>
              <a:defRPr sz="3600" b="1">
                <a:solidFill>
                  <a:srgbClr val="F8FAFC"/>
                </a:solidFill>
              </a:defRPr>
            </a:pPr>
            <a:r>
              <a:t>RailRakshak · Rail Insight 2.0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Next-Gen Railway Dispatch Intelligence, Dynamic Multi-Factor ETA &amp; Kinematic Simulation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3383280" cy="2560320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01. THE PROBLEM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Static Linear Fallacy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Traditional trackers use ETA = Booked + Delay, ignoring locomotive power, headway braking cascades, and terminal cross-overs.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3291840"/>
            <a:ext cx="3383280" cy="2560320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02. INNOVATION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Dual-Core Physics + ML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FastAPI + LightGBM + SHAP XAI model integrating 12 real-world pain factors, track resistance, and train recovery DNA.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291840"/>
            <a:ext cx="3383280" cy="2560320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03. ACTIONABLE OUTPUT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Kinematic Pacing &amp; Sandbox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Advises controllers on exact recovery speed (V_target vs MPS) with a live 100ms God-Mode moving train simulator.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RailRakshak (Rail Insight 2.0) · Smart India Hackathon 2026                    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366F1"/>
                </a:solidFill>
              </a:defRPr>
            </a:pPr>
            <a:r>
              <a:t>THE PROBLEM STATEMENT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The Operational Crisis: Why Traditional Railway ETA Tracking Fails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1280160"/>
          </a:xfrm>
          <a:prstGeom prst="roundRect">
            <a:avLst/>
          </a:prstGeom>
          <a:solidFill>
            <a:srgbClr val="230F19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/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THE NAIVE LINEAR SUM FALLACY IN EXISTING SYSTEMS (NTES / THIRD-PARTY APPS):</a:t>
            </a:r>
          </a:p>
          <a:p>
            <a:pPr>
              <a:defRPr sz="1800" b="1">
                <a:solidFill>
                  <a:srgbClr val="FECDD3"/>
                </a:solidFill>
              </a:defRPr>
            </a:pPr>
            <a:r>
              <a:t>Predicted Arrival = Booked WTT Schedule + Current Live Delay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If a train is 15 minutes late at Mandya, legacy apps assume it arrives 15 minutes late at Bengaluru. This ignores train acceleration physics, headway compression behind freight, and terminal choke points.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3383280" cy="3108960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/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🚨 Issue 01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</a:defRPr>
            </a:pPr>
            <a:r>
              <a:t>Zero Physical &amp; Tractive Awareness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Legacy systems treat an 8-coach Vande Bharat (130 km/h) and a 17-halt commuter MEMU identically, ignoring locomotive power-to-weight ratios and slack recovery capacity.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926080"/>
            <a:ext cx="3383280" cy="3108960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/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🚨 Issue 02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</a:defRPr>
            </a:pPr>
            <a:r>
              <a:t>Headway Compression Waves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When high-speed express trains trail slow 54-wagon BOXN freight rakes, they encounter Double-Yellow and Yellow signal cascades, doubling transit delays.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926080"/>
            <a:ext cx="3383280" cy="3108960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/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🚨 Issue 03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</a:defRPr>
            </a:pPr>
            <a:r>
              <a:t>Terminal Throat Blindspots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The Kengeri - SBC terminal sector (KM 126-138) accounts for 64% of corridor delay due to platform reception cross-over conflicts, which static trackers fail to forecast.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RailRakshak (Rail Insight 2.0) · Smart India Hackathon 2026                    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366F1"/>
                </a:solidFill>
              </a:defRPr>
            </a:pPr>
            <a:r>
              <a:t>SYSTEM ARCHITECTURE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The Three Pillars of RailRakshak Railway Traffic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PILLAR 01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</a:defRPr>
            </a:pPr>
            <a:r>
              <a:t>Pattern Recognition Engine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• 24-Hour Temporal Wave Profiler (Commuter vs Freight)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• Spatial Bottleneck Clustering (SBC Outer, Mandya, Bidadi)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• Headway Compression &amp; Ripple Delay Modeling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• Yesterday vs. Today Delay Gap Forensics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PILLAR 02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</a:defRPr>
            </a:pPr>
            <a:r>
              <a:t>12-Factor Operational Friction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• Loop Line Stabling &amp; Overtake Precedence (+8.5m)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• Signal Aspect Cascades (Red / Yellow Braking)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• TSR 15 km/h Caution &amp; PSR Curvature Speed Caps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• OHE 25kV Voltage Sag &amp; Wet-Rail Adhesion Slip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PILLAR 03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</a:defRPr>
            </a:pPr>
            <a:r>
              <a:t>Dynamic Prediction &amp; Pacing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• Dual-Core Kinematics + LightGBM ML Inference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• Train-Specific Historical Recovery DNA (88% vs 22%)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• Pacing Engine (V_target vs Corridor MPS)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• Explainable AI SHAP Waterfall Feature Attribution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RailRakshak (Rail Insight 2.0) · Smart India Hackathon 2026                    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366F1"/>
                </a:solidFill>
              </a:defRPr>
            </a:pPr>
            <a:r>
              <a:t>PILLAR 2: ROOT-CAUSE DIAGNOSTICS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Deep Operational Friction Modeling: 12 Real-World Pain Factors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2011680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/>
          <a:lstStyle/>
          <a:p>
            <a:pPr algn="ctr">
              <a:defRPr sz="900" b="1">
                <a:solidFill>
                  <a:srgbClr val="EF4444"/>
                </a:solidFill>
              </a:defRPr>
            </a:pPr>
            <a:r>
              <a:t>FACTOR 01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</a:defRPr>
            </a:pPr>
            <a:r>
              <a:t>Signal Danger Aspect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Route interlocking conflict holding home signal at Red (+12m)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560320" cy="2011680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/>
          <a:lstStyle/>
          <a:p>
            <a:pPr algn="ctr">
              <a:defRPr sz="900" b="1">
                <a:solidFill>
                  <a:srgbClr val="EF4444"/>
                </a:solidFill>
              </a:defRPr>
            </a:pPr>
            <a:r>
              <a:t>FACTOR 02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</a:defRPr>
            </a:pPr>
            <a:r>
              <a:t>LC Gate Road Jam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Highway vehicle traffic obstructing non-interlocked LC gates (+10m)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2560320" cy="2011680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/>
          <a:lstStyle/>
          <a:p>
            <a:pPr algn="ctr">
              <a:defRPr sz="900" b="1">
                <a:solidFill>
                  <a:srgbClr val="F59E0B"/>
                </a:solidFill>
              </a:defRPr>
            </a:pPr>
            <a:r>
              <a:t>FACTOR 03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</a:defRPr>
            </a:pPr>
            <a:r>
              <a:t>OHE 25kV Voltage Sag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Substation feeder overload drops catenary to &lt;17kV, halving torque (+8m)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463040"/>
            <a:ext cx="2560320" cy="2011680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/>
          <a:lstStyle/>
          <a:p>
            <a:pPr algn="ctr">
              <a:defRPr sz="900" b="1">
                <a:solidFill>
                  <a:srgbClr val="06B6D4"/>
                </a:solidFill>
              </a:defRPr>
            </a:pPr>
            <a:r>
              <a:t>FACTOR 04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</a:defRPr>
            </a:pPr>
            <a:r>
              <a:t>Wet-Rail Micro-Slip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Monsoon hydroplaning (µ≤0.08) triggering sanding &amp; braking lag (+6m)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2560320" cy="2011680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/>
          <a:lstStyle/>
          <a:p>
            <a:pPr algn="ctr">
              <a:defRPr sz="900" b="1">
                <a:solidFill>
                  <a:srgbClr val="F59E0B"/>
                </a:solidFill>
              </a:defRPr>
            </a:pPr>
            <a:r>
              <a:t>FACTOR 05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</a:defRPr>
            </a:pPr>
            <a:r>
              <a:t>Loop Turnout Precedence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1:8.5 turnout diversion to allow higher-tier overtake (+8.5m)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749039"/>
            <a:ext cx="2560320" cy="2011680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/>
          <a:lstStyle/>
          <a:p>
            <a:pPr algn="ctr">
              <a:defRPr sz="900" b="1">
                <a:solidFill>
                  <a:srgbClr val="EF4444"/>
                </a:solidFill>
              </a:defRPr>
            </a:pPr>
            <a:r>
              <a:t>FACTOR 06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</a:defRPr>
            </a:pPr>
            <a:r>
              <a:t>Headway Compression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Trailing slow 54-wagon BOXN coal rake under Yellow aspects (+14m)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49039"/>
            <a:ext cx="2560320" cy="2011680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/>
          <a:lstStyle/>
          <a:p>
            <a:pPr algn="ctr">
              <a:defRPr sz="900" b="1">
                <a:solidFill>
                  <a:srgbClr val="F59E0B"/>
                </a:solidFill>
              </a:defRPr>
            </a:pPr>
            <a:r>
              <a:t>FACTOR 07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</a:defRPr>
            </a:pPr>
            <a:r>
              <a:t>Commuter Dwell Surge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Overcrowded platform boarding at Mandya exceeding booked halt (+5m)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3749039"/>
            <a:ext cx="2560320" cy="2011680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/>
          <a:lstStyle/>
          <a:p>
            <a:pPr algn="ctr">
              <a:defRPr sz="900" b="1">
                <a:solidFill>
                  <a:srgbClr val="EF4444"/>
                </a:solidFill>
              </a:defRPr>
            </a:pPr>
            <a:r>
              <a:t>FACTOR 08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</a:defRPr>
            </a:pPr>
            <a:r>
              <a:t>Terminal Throat Choke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SBC yard platform reception cross-overs queuing rakes (+15m)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RailRakshak (Rail Insight 2.0) · Smart India Hackathon 2026                    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366F1"/>
                </a:solidFill>
              </a:defRPr>
            </a:pPr>
            <a:r>
              <a:t>PILLAR 3: LOCOMOTIVE BEHAVIORAL PROFILES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Train-Specific Historical Recovery DNA &amp; Locomotive Pacing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841248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rIns="137160" bIns="13716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#20608 Vande Bharat Express   —   88% Recovery Historical Slack Exploitation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Distributed EMU Traction · 0.85 m/s² · Max 130 km/h · Priority Tier 1  |  Reclaims ~88% of potential slack out of restriction zones.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10728655" cy="841248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rIns="137160" bIns="13716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#12008 Shatabdi Express   —   78% Recovery Historical Slack Exploitation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WAP-7 + 14 LHB Coaches · 0.70 m/s² · Max 120 km/h · Priority Tier 1  |  Non-stop corridor pacing with high power-to-weight ratio.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10728655" cy="841248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rIns="137160" bIns="13716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#12613 Wodeyar Superfast   —   65% Recovery Historical Slack Exploitation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WAP-7 + 22 LHB Coaches · 0.60 m/s² · Max 110 km/h · Priority Tier 2  |  Aggressive throttle notching across limited commercial stops.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51960"/>
            <a:ext cx="10728655" cy="841248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rIns="137160" bIns="13716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#16022 Kaveri Express   —   45% Recovery Historical Slack Exploitation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WAP-7 + 22 ICF Coaches · 0.45 m/s² · Max 110 km/h (10 Halts)  |  Moderate recovery constrained by commuter boarding dwells.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10728655" cy="841248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rIns="137160" bIns="137160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#66552 MEMU Passenger   —   22% Recovery Historical Slack Exploitation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3-Phase MEMU · 0.55 m/s² · Max 95 km/h (17 All-Stop Halts)  |  Low top-speed cruising due to frequent station deceleration.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RailRakshak (Rail Insight 2.0) · Smart India Hackathon 2026                    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366F1"/>
                </a:solidFill>
              </a:defRPr>
            </a:pPr>
            <a:r>
              <a:t>ACTIONABLE CONTROLLER ADVISORY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Kinematic Pacing Engine &amp; Controller Throttle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1188720"/>
          </a:xfrm>
          <a:prstGeom prst="roundRect">
            <a:avLst/>
          </a:prstGeom>
          <a:solidFill>
            <a:srgbClr val="141E3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DYNAMIC TARGET PACING FORMULA (V_TARGET):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V_target = Remaining Clear Distance (km) ÷ Target Scheduled Time Window (hrs)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5212080" cy="3200400"/>
          </a:xfrm>
          <a:prstGeom prst="roundRect">
            <a:avLst/>
          </a:prstGeom>
          <a:solidFill>
            <a:srgbClr val="0C231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CASE A: RECOVERABLE DELAY (V_target ≤ MPS)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On-Track Throttle Advisory</a:t>
            </a:r>
          </a:p>
          <a:p>
            <a:pPr>
              <a:defRPr sz="1050">
                <a:solidFill>
                  <a:srgbClr val="D1FAE5"/>
                </a:solidFill>
              </a:defRPr>
            </a:pPr>
            <a:r>
              <a:t>Advisory: "Increase throttle to 118 km/h across the next 42 km of clear track. Locomotive tractive capacity will recover -6 min slack to arrive strictly on time at SBC."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834640"/>
            <a:ext cx="5212080" cy="3200400"/>
          </a:xfrm>
          <a:prstGeom prst="roundRect">
            <a:avLst/>
          </a:prstGeom>
          <a:solidFill>
            <a:srgbClr val="261419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CASE B: UNRECOVERABLE DELAY (V_target &gt; MPS)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Optimal Achievable Delay Metric</a:t>
            </a:r>
          </a:p>
          <a:p>
            <a:pPr>
              <a:defRPr sz="1050">
                <a:solidFill>
                  <a:srgbClr val="FECDD3"/>
                </a:solidFill>
              </a:defRPr>
            </a:pPr>
            <a:r>
              <a:t>Advisory: "Required pace (145 km/h) exceeds 110 km/h locomotive MPS limit. Running at full throttle reclaims 9 min slack, resulting in an Optimal Achievable Delay of +3m (Static was +12m)."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RailRakshak (Rail Insight 2.0) · Smart India Hackathon 2026                   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366F1"/>
                </a:solidFill>
              </a:defRPr>
            </a:pPr>
            <a:r>
              <a:t>INTERACTIVE DISPATCH SANDBOX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God-Mode Moving Train Simulator &amp; Interactive Pain Dropper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/>
          <a:lstStyle/>
          <a:p>
            <a:pPr algn="ctr">
              <a:spcAft>
                <a:spcPts val="1200"/>
              </a:spcAft>
              <a:defRPr sz="1500" b="1">
                <a:solidFill>
                  <a:srgbClr val="6366F1"/>
                </a:solidFill>
              </a:defRPr>
            </a:pPr>
            <a:r>
              <a:t>Real-Time 100ms Physical Loop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Smooth passing train animation across the 138.25 km SWR corridor.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Top-of-train travelling HUD showing live elapsed journey time (e.g. Travelled: 42m).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Volumetric headlights beam, catenary contact sparks, and bogie rotation.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Variable playback speeds (0.5x, 1x, 2x, 5x, 10x, 20x).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/>
          <a:lstStyle/>
          <a:p>
            <a:pPr algn="ctr">
              <a:spcAft>
                <a:spcPts val="1200"/>
              </a:spcAft>
              <a:defRPr sz="1500" b="1">
                <a:solidFill>
                  <a:srgbClr val="10B981"/>
                </a:solidFill>
              </a:defRPr>
            </a:pPr>
            <a:r>
              <a:t>Mouse-Clicker Pain Factor Dropper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Quick-select toolbelt (Signal 🛑, Wet-Rail 🌧️, OHE Sag ⚡, LC Jam 🚧).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Custom detention severity slider (+2m to +30m delay).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Live laser crosshair &amp; tooltip following mouse cursor over track canvas.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Instant dynamic ETA recalculation upon train crossing restriction zones.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RailRakshak (Rail Insight 2.0) · Smart India Hackathon 2026                    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366F1"/>
                </a:solidFill>
              </a:defRPr>
            </a:pPr>
            <a:r>
              <a:t>SYSTEM ENGINEERING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Technical Architecture &amp; Hybrid Dual-Core Resilience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/>
          <a:lstStyle/>
          <a:p>
            <a:pPr algn="ctr">
              <a:spcAft>
                <a:spcPts val="1200"/>
              </a:spcAft>
              <a:defRPr sz="1300" b="1">
                <a:solidFill>
                  <a:srgbClr val="6366F1"/>
                </a:solidFill>
              </a:defRPr>
            </a:pPr>
            <a:r>
              <a:t>Frontend Application (Port 8080)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React 18 + TypeScript + Vite 6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Tailwind CSS (Railway cyber-tactical theme)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Recharts &amp; Lucide React Visuals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Auto-probes Python backend health every 5s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/>
          <a:lstStyle/>
          <a:p>
            <a:pPr algn="ctr">
              <a:spcAft>
                <a:spcPts val="1200"/>
              </a:spcAft>
              <a:defRPr sz="1300" b="1">
                <a:solidFill>
                  <a:srgbClr val="10B981"/>
                </a:solidFill>
              </a:defRPr>
            </a:pPr>
            <a:r>
              <a:t>Python ML Backend (Port 8000)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Python 3.12 + FastAPI + Uvicorn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LightGBM Gradient-Boosted Decision Trees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SHAP TreeExplainer for Explainable AI (XAI)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35,000 SWR journey operational synthetic 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/>
          <a:lstStyle/>
          <a:p>
            <a:pPr algn="ctr">
              <a:spcAft>
                <a:spcPts val="1200"/>
              </a:spcAft>
              <a:defRPr sz="1300" b="1">
                <a:solidFill>
                  <a:srgbClr val="06B6D4"/>
                </a:solidFill>
              </a:defRPr>
            </a:pPr>
            <a:r>
              <a:t>Production Deployment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Containerized via Dockerfile &amp; docker-compose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Hybrid Offline Fallback (100% Client Kinematics Uptime)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REST API endpoints for prediction, health &amp; retrain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Multi-client local network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RailRakshak (Rail Insight 2.0) · Smart India Hackathon 2026                    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366F1"/>
                </a:solidFill>
              </a:defRPr>
            </a:pPr>
            <a:r>
              <a:t>SIH 2026 VALUE PROPOSITION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Measurable Operational Impact &amp; Nationwide Scalability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2011680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/>
          <a:lstStyle/>
          <a:p>
            <a:pPr algn="ctr">
              <a:spcAft>
                <a:spcPts val="200"/>
              </a:spcAft>
              <a:defRPr sz="3200" b="1">
                <a:solidFill>
                  <a:srgbClr val="10B981"/>
                </a:solidFill>
              </a:defRPr>
            </a:pPr>
            <a:r>
              <a:t>-28%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Section Detentions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Reduced via proactive headway decompression alerts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560320" cy="2011680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/>
          <a:lstStyle/>
          <a:p>
            <a:pPr algn="ctr">
              <a:spcAft>
                <a:spcPts val="200"/>
              </a:spcAft>
              <a:defRPr sz="3200" b="1">
                <a:solidFill>
                  <a:srgbClr val="6366F1"/>
                </a:solidFill>
              </a:defRPr>
            </a:pPr>
            <a:r>
              <a:t>95%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Confidence Interval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Accurate prediction error bounds with RMSE margins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2560320" cy="2011680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/>
          <a:lstStyle/>
          <a:p>
            <a:pPr algn="ctr">
              <a:spcAft>
                <a:spcPts val="200"/>
              </a:spcAft>
              <a:defRPr sz="3200" b="1">
                <a:solidFill>
                  <a:srgbClr val="F59E0B"/>
                </a:solidFill>
              </a:defRPr>
            </a:pPr>
            <a:r>
              <a:t>12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Pain Factors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Real-time root cause diagnostic taxonomy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463040"/>
            <a:ext cx="2560320" cy="2011680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/>
          <a:lstStyle/>
          <a:p>
            <a:pPr algn="ctr">
              <a:spcAft>
                <a:spcPts val="200"/>
              </a:spcAft>
              <a:defRPr sz="3200" b="1">
                <a:solidFill>
                  <a:srgbClr val="06B6D4"/>
                </a:solidFill>
              </a:defRPr>
            </a:pPr>
            <a:r>
              <a:t>100%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Nationwide Scalable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Parameter-driven models deployable to any IR division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728655" cy="2194560"/>
          </a:xfrm>
          <a:prstGeom prst="roundRect">
            <a:avLst/>
          </a:prstGeom>
          <a:solidFill>
            <a:srgbClr val="131B31"/>
          </a:solidFill>
          <a:ln>
            <a:solidFill>
              <a:srgbClr val="26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CORRIDOR EXPANSION ROADMAP ACROSS INDIAN RAILWAYS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The RailRakshak architecture is division-agnostic. By ingesting division-specific WTT files, station chainage tables, and locomotive allocations, the system can be deployed across high-density corridors including Mumbai–Pune, Delhi–Kanpur, Howrah–Kharagpur, and Chennai–Bengaluru in under 48 hours.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RailRakshak (Rail Insight 2.0) · Smart India Hackathon 2026                    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365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366F1"/>
                </a:solidFill>
              </a:defRPr>
            </a:pPr>
            <a:r>
              <a:t>READY FOR EVALUATION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Live System Demonstration &amp; Mentor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572000"/>
          </a:xfrm>
          <a:prstGeom prst="roundRect">
            <a:avLst/>
          </a:prstGeom>
          <a:solidFill>
            <a:srgbClr val="10172C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 rIns="320040" bIns="320040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RAILRAKSHAK (RAIL INSIGHT 2.0) · LIVE DEMO READY</a:t>
            </a:r>
          </a:p>
          <a:p>
            <a:pPr>
              <a:spcAft>
                <a:spcPts val="1400"/>
              </a:spcAft>
              <a:defRPr sz="2200" b="1">
                <a:solidFill>
                  <a:srgbClr val="F8FAFC"/>
                </a:solidFill>
              </a:defRPr>
            </a:pPr>
            <a:r>
              <a:t>Experience the Dual-Core Dynamic Prediction &amp; Simulator Live</a:t>
            </a:r>
          </a:p>
          <a:p>
            <a:pPr>
              <a:defRPr sz="1200" b="1">
                <a:solidFill>
                  <a:srgbClr val="06B6D4"/>
                </a:solidFill>
              </a:defRPr>
            </a:pPr>
            <a:r>
              <a:t>▶ Mission Control Cockpit — http://localhost:8080/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   Live RTIS telemetry, Where-Is-My-Train banner, and SHAP XAI feature attribution.</a:t>
            </a:r>
          </a:p>
          <a:p>
            <a:pPr>
              <a:defRPr sz="1200" b="1">
                <a:solidFill>
                  <a:srgbClr val="06B6D4"/>
                </a:solidFill>
              </a:defRPr>
            </a:pPr>
            <a:r>
              <a:t>▶ God-Mode Simulator Deck — http://localhost:8080/?tab=SIMULATOR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   Interactive moving train, mouse-clicker pain factor dropper, and pacing guidance.</a:t>
            </a:r>
          </a:p>
          <a:p>
            <a:pPr>
              <a:defRPr sz="1200" b="1">
                <a:solidFill>
                  <a:srgbClr val="06B6D4"/>
                </a:solidFill>
              </a:defRPr>
            </a:pPr>
            <a:r>
              <a:t>▶ FastAPI Python ML Core — http://localhost:8000/docs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   Live Swagger API docs with LightGBM inference &amp; retraining endpoints.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RailRakshak (Rail Insight 2.0) · Smart India Hackathon 2026                    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